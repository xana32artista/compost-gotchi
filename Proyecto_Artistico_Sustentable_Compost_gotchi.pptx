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0" y="0"/>
            <a:ext cx="12227975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1697" y="1871132"/>
            <a:ext cx="6813894" cy="1515533"/>
          </a:xfrm>
        </p:spPr>
        <p:txBody>
          <a:bodyPr anchor="b">
            <a:noAutofit/>
          </a:bodyPr>
          <a:lstStyle>
            <a:lvl1pPr algn="ctr">
              <a:defRPr sz="5398">
                <a:effectLst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1697" y="3657597"/>
            <a:ext cx="6813894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099">
                <a:solidFill>
                  <a:schemeClr val="tx1"/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1154" y="5037663"/>
            <a:ext cx="897233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1696" y="5037663"/>
            <a:ext cx="5213277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4568" y="5037663"/>
            <a:ext cx="55102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1698" y="3522131"/>
            <a:ext cx="68138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8625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255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4544" y="1752606"/>
            <a:ext cx="8156563" cy="1822514"/>
          </a:xfrm>
        </p:spPr>
        <p:txBody>
          <a:bodyPr anchor="b">
            <a:normAutofit/>
          </a:bodyPr>
          <a:lstStyle>
            <a:lvl1pPr algn="ctr">
              <a:defRPr sz="4399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4542" y="3846052"/>
            <a:ext cx="8156565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3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199" y="3710585"/>
            <a:ext cx="816125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4553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110" y="2560320"/>
            <a:ext cx="4717075" cy="3310128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9734" y="2560320"/>
            <a:ext cx="4717075" cy="3310128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029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3" y="2658533"/>
            <a:ext cx="4717075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799" b="0">
                <a:solidFill>
                  <a:schemeClr val="accent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063" y="3243263"/>
            <a:ext cx="4717075" cy="2632605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9061" y="2658533"/>
            <a:ext cx="4717075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799" b="0">
                <a:solidFill>
                  <a:schemeClr val="accent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9061" y="3243263"/>
            <a:ext cx="4717075" cy="2632605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8927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7864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785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474" y="1388534"/>
            <a:ext cx="3717487" cy="1371600"/>
          </a:xfrm>
        </p:spPr>
        <p:txBody>
          <a:bodyPr anchor="b">
            <a:normAutofit/>
          </a:bodyPr>
          <a:lstStyle>
            <a:lvl1pPr algn="ctr">
              <a:defRPr sz="2399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7257" y="982132"/>
            <a:ext cx="5468042" cy="4893735"/>
          </a:xfrm>
        </p:spPr>
        <p:txBody>
          <a:bodyPr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474" y="3031065"/>
            <a:ext cx="3717487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5805" y="2912533"/>
            <a:ext cx="35135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2191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1" y="1883832"/>
            <a:ext cx="6240191" cy="1371600"/>
          </a:xfrm>
        </p:spPr>
        <p:txBody>
          <a:bodyPr anchor="b">
            <a:normAutofit/>
          </a:bodyPr>
          <a:lstStyle>
            <a:lvl1pPr algn="ctr">
              <a:defRPr sz="2799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2724" y="1041400"/>
            <a:ext cx="3062549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061" y="3255432"/>
            <a:ext cx="624019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996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4" y="4815415"/>
            <a:ext cx="9607163" cy="566738"/>
          </a:xfrm>
        </p:spPr>
        <p:txBody>
          <a:bodyPr anchor="b">
            <a:normAutofit/>
          </a:bodyPr>
          <a:lstStyle>
            <a:lvl1pPr algn="ctr">
              <a:defRPr sz="2399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156" y="1041400"/>
            <a:ext cx="10103340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064" y="5382153"/>
            <a:ext cx="9607163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200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528" y="982132"/>
            <a:ext cx="9590234" cy="2954868"/>
          </a:xfrm>
        </p:spPr>
        <p:txBody>
          <a:bodyPr anchor="ctr">
            <a:normAutofit/>
          </a:bodyPr>
          <a:lstStyle>
            <a:lvl1pPr algn="ctr">
              <a:defRPr sz="3199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528" y="4343400"/>
            <a:ext cx="9590234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5806" y="4140199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4329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836" y="982132"/>
            <a:ext cx="9293977" cy="2370668"/>
          </a:xfrm>
        </p:spPr>
        <p:txBody>
          <a:bodyPr anchor="ctr">
            <a:normAutofit/>
          </a:bodyPr>
          <a:lstStyle>
            <a:lvl1pPr algn="ctr">
              <a:defRPr sz="3199" b="0" cap="none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376" y="3352800"/>
            <a:ext cx="8836900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999"/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4343400"/>
            <a:ext cx="9607163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1789" y="87996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97507" y="2827870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5806" y="4140199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314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5" y="3308581"/>
            <a:ext cx="9607165" cy="1468800"/>
          </a:xfrm>
        </p:spPr>
        <p:txBody>
          <a:bodyPr anchor="b">
            <a:normAutofit/>
          </a:bodyPr>
          <a:lstStyle>
            <a:lvl1pPr algn="l">
              <a:defRPr sz="3199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4777381"/>
            <a:ext cx="9607165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2738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836" y="982132"/>
            <a:ext cx="9293977" cy="2243668"/>
          </a:xfrm>
        </p:spPr>
        <p:txBody>
          <a:bodyPr anchor="ctr">
            <a:normAutofit/>
          </a:bodyPr>
          <a:lstStyle>
            <a:lvl1pPr algn="ctr">
              <a:defRPr sz="3199" b="0" cap="none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064" y="3639312"/>
            <a:ext cx="9607165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3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4529667"/>
            <a:ext cx="9607165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1789" y="87996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7507" y="259926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5806" y="3429000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1448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4" y="982132"/>
            <a:ext cx="9607163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064" y="3630168"/>
            <a:ext cx="9607165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3" y="4470400"/>
            <a:ext cx="9607167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5806" y="3429000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7710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7302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7013" y="982132"/>
            <a:ext cx="1890403" cy="4893735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061" y="982132"/>
            <a:ext cx="7431089" cy="4893734"/>
          </a:xfrm>
        </p:spPr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1582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7075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2" y="0"/>
            <a:ext cx="12226777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065" y="982133"/>
            <a:ext cx="95986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2556932"/>
            <a:ext cx="95986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5241" y="5969000"/>
            <a:ext cx="15997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064" y="5969000"/>
            <a:ext cx="73039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1205" y="5969000"/>
            <a:ext cx="542556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368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063" rtl="0" eaLnBrk="1" latinLnBrk="0" hangingPunct="1">
        <a:spcBef>
          <a:spcPct val="0"/>
        </a:spcBef>
        <a:buNone/>
        <a:defRPr sz="4399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664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39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99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199790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79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2587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1999650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C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C5E3B"/>
                </a:solidFill>
                <a:latin typeface="Arial"/>
              </a:defRPr>
            </a:pPr>
            <a:r>
              <a:rPr lang="es-PE" noProof="0" dirty="0"/>
              <a:t>PROYECTO ARTÍSTICO SUSTENTABLE</a:t>
            </a:r>
          </a:p>
          <a:p>
            <a:pPr>
              <a:spcBef>
                <a:spcPts val="400"/>
              </a:spcBef>
              <a:defRPr sz="3800" b="1" i="0">
                <a:solidFill>
                  <a:srgbClr val="2C5E3B"/>
                </a:solidFill>
                <a:latin typeface="Arial"/>
              </a:defRPr>
            </a:pPr>
            <a:r>
              <a:rPr lang="es-PE" noProof="0" dirty="0"/>
              <a:t>"COMPOST-GOTCHI" 🌱</a:t>
            </a:r>
          </a:p>
          <a:p>
            <a:pPr>
              <a:spcBef>
                <a:spcPts val="1600"/>
              </a:spcBef>
              <a:defRPr sz="1600" b="0" i="1">
                <a:solidFill>
                  <a:srgbClr val="787878"/>
                </a:solidFill>
                <a:latin typeface="Arial"/>
              </a:defRPr>
            </a:pPr>
            <a:r>
              <a:rPr lang="es-PE" noProof="0" dirty="0"/>
              <a:t>Aplicación web educativa para la gestión de residuos orgánicos</a:t>
            </a:r>
            <a:br>
              <a:rPr lang="es-PE" noProof="0" dirty="0"/>
            </a:br>
            <a:r>
              <a:rPr lang="es-PE" noProof="0" dirty="0"/>
              <a:t>mediante gamificación interactiva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7548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2B2B2B"/>
                </a:solidFill>
                <a:latin typeface="Arial"/>
              </a:defRPr>
            </a:pPr>
            <a:r>
              <a:rPr lang="es-PE" noProof="0" dirty="0"/>
              <a:t>Desarrollo Sustentable — Tercera Unidad  |  Cusco, Perú — 2026</a:t>
            </a:r>
          </a:p>
          <a:p>
            <a:pPr>
              <a:spcBef>
                <a:spcPts val="400"/>
              </a:spcBef>
              <a:defRPr sz="1400" b="0" i="0">
                <a:solidFill>
                  <a:srgbClr val="787878"/>
                </a:solidFill>
                <a:latin typeface="Arial"/>
              </a:defRPr>
            </a:pPr>
            <a:r>
              <a:rPr lang="es-PE" noProof="0" dirty="0"/>
              <a:t>Docente: Mag. Maruja </a:t>
            </a:r>
            <a:r>
              <a:rPr lang="es-PE" noProof="0" dirty="0" err="1"/>
              <a:t>Huayhuaca</a:t>
            </a:r>
            <a:r>
              <a:rPr lang="es-PE" noProof="0" dirty="0"/>
              <a:t> Hermoza  |  Público: Estudiantes EBR y público general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8D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rPr lang="es-PE" noProof="0" dirty="0"/>
              <a:t>1. Problema, Propósito y Objetivos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8D5B4C"/>
                </a:solidFill>
                <a:latin typeface="Arial"/>
              </a:defRPr>
            </a:pPr>
            <a:r>
              <a:rPr lang="es-PE" noProof="0" dirty="0"/>
              <a:t>El problema</a:t>
            </a:r>
          </a:p>
          <a:p>
            <a:pPr>
              <a:spcBef>
                <a:spcPts val="1200"/>
              </a:spcBef>
              <a:defRPr sz="1500" b="0" i="0">
                <a:solidFill>
                  <a:srgbClr val="2B2B2B"/>
                </a:solidFill>
                <a:latin typeface="Arial"/>
              </a:defRPr>
            </a:pPr>
            <a:r>
              <a:rPr lang="es-PE" noProof="0" dirty="0"/>
              <a:t>• Más del 50% de la basura de Cusco es orgánica y acaba en vertederos.</a:t>
            </a:r>
            <a:br>
              <a:rPr lang="es-PE" noProof="0" dirty="0"/>
            </a:br>
            <a:r>
              <a:rPr lang="es-PE" noProof="0" dirty="0"/>
              <a:t>• La descomposición anaeróbica genera metano (GEI) y lixiviados contaminantes.</a:t>
            </a:r>
            <a:br>
              <a:rPr lang="es-PE" noProof="0" dirty="0"/>
            </a:br>
            <a:r>
              <a:rPr lang="es-PE" noProof="0" dirty="0"/>
              <a:t>• Falta cultura de separación en origen: mitos sobre olores, plagas y complejidad.</a:t>
            </a:r>
          </a:p>
          <a:p>
            <a:pPr>
              <a:spcBef>
                <a:spcPts val="2000"/>
              </a:spcBef>
              <a:defRPr sz="2200" b="1" i="0">
                <a:solidFill>
                  <a:srgbClr val="2C5E3B"/>
                </a:solidFill>
                <a:latin typeface="Arial"/>
              </a:defRPr>
            </a:pPr>
            <a:r>
              <a:rPr lang="es-PE" noProof="0" dirty="0"/>
              <a:t>Propósito</a:t>
            </a:r>
          </a:p>
          <a:p>
            <a:pPr>
              <a:spcBef>
                <a:spcPts val="800"/>
              </a:spcBef>
              <a:defRPr sz="1500" b="0" i="0">
                <a:solidFill>
                  <a:srgbClr val="2B2B2B"/>
                </a:solidFill>
                <a:latin typeface="Arial"/>
              </a:defRPr>
            </a:pPr>
            <a:r>
              <a:rPr lang="es-PE" noProof="0" dirty="0"/>
              <a:t>Educar y concientizar sobre el compostaje doméstico con un simulador interactivo gratuito, alineado con los ODS 12 y 13 de la Agenda 2030.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C5E3B"/>
                </a:solidFill>
                <a:latin typeface="Arial"/>
              </a:defRPr>
            </a:pPr>
            <a:r>
              <a:rPr lang="es-PE" noProof="0" dirty="0"/>
              <a:t>Objetivos</a:t>
            </a:r>
          </a:p>
          <a:p>
            <a:pPr>
              <a:spcBef>
                <a:spcPts val="1200"/>
              </a:spcBef>
              <a:defRPr sz="1500" b="0" i="0">
                <a:solidFill>
                  <a:srgbClr val="2B2B2B"/>
                </a:solidFill>
                <a:latin typeface="Arial"/>
              </a:defRPr>
            </a:pPr>
            <a:r>
              <a:rPr lang="es-PE" noProof="0" dirty="0"/>
              <a:t>• Simular el ciclo biológico completo del compostaje (fases mesófila, termófila, maduración).</a:t>
            </a:r>
            <a:br>
              <a:rPr lang="es-PE" noProof="0" dirty="0"/>
            </a:br>
            <a:br>
              <a:rPr lang="es-PE" noProof="0" dirty="0"/>
            </a:br>
            <a:r>
              <a:rPr lang="es-PE" noProof="0" dirty="0"/>
              <a:t>• Enseñar a equilibrar humedad, oxígeno, temperatura y proporción C:N (30:1).</a:t>
            </a:r>
            <a:br>
              <a:rPr lang="es-PE" noProof="0" dirty="0"/>
            </a:br>
            <a:br>
              <a:rPr lang="es-PE" noProof="0" dirty="0"/>
            </a:br>
            <a:r>
              <a:rPr lang="es-PE" noProof="0" dirty="0"/>
              <a:t>• Clasificar correctamente residuos </a:t>
            </a:r>
            <a:r>
              <a:rPr lang="es-PE" noProof="0" dirty="0" err="1"/>
              <a:t>compostables</a:t>
            </a:r>
            <a:r>
              <a:rPr lang="es-PE" noProof="0" dirty="0"/>
              <a:t>, reciclables y no aprovechables.</a:t>
            </a:r>
            <a:br>
              <a:rPr lang="es-PE" noProof="0" dirty="0"/>
            </a:br>
            <a:br>
              <a:rPr lang="es-PE" noProof="0" dirty="0"/>
            </a:br>
            <a:r>
              <a:rPr lang="es-PE" noProof="0" dirty="0"/>
              <a:t>• Conectar la educación digital con la práctica real en hogares y escuelas de Cusco.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8D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rPr lang="es-PE" noProof="0" dirty="0"/>
              <a:t>2. Dimensiones del Proyecto Sustentable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606040" cy="5029200"/>
          </a:xfrm>
          <a:prstGeom prst="roundRect">
            <a:avLst/>
          </a:prstGeom>
          <a:solidFill>
            <a:srgbClr val="F0F5F1"/>
          </a:solidFill>
          <a:ln w="19050">
            <a:solidFill>
              <a:srgbClr val="2C5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C5E3B"/>
                </a:solidFill>
                <a:latin typeface="Arial"/>
              </a:defRPr>
            </a:pPr>
            <a:r>
              <a:rPr lang="es-PE" noProof="0" dirty="0"/>
              <a:t>🌿 Ambiental</a:t>
            </a:r>
          </a:p>
          <a:p>
            <a:br>
              <a:rPr lang="es-PE" noProof="0" dirty="0">
                <a:solidFill>
                  <a:schemeClr val="tx1"/>
                </a:solidFill>
              </a:rPr>
            </a:br>
            <a:r>
              <a:rPr lang="es-PE" noProof="0" dirty="0">
                <a:solidFill>
                  <a:schemeClr val="tx1"/>
                </a:solidFill>
              </a:rPr>
              <a:t>• Herramienta 100% digital: cero papel, cero plástico.</a:t>
            </a:r>
            <a:br>
              <a:rPr lang="es-PE" noProof="0" dirty="0">
                <a:solidFill>
                  <a:schemeClr val="tx1"/>
                </a:solidFill>
              </a:rPr>
            </a:br>
            <a:br>
              <a:rPr lang="es-PE" noProof="0" dirty="0">
                <a:solidFill>
                  <a:schemeClr val="tx1"/>
                </a:solidFill>
              </a:rPr>
            </a:br>
            <a:r>
              <a:rPr lang="es-PE" noProof="0" dirty="0">
                <a:solidFill>
                  <a:schemeClr val="tx1"/>
                </a:solidFill>
              </a:rPr>
              <a:t>• Promueve la filosofía «Cero Basura»: los residuos orgánicos regresan al suelo como abono.</a:t>
            </a:r>
            <a:br>
              <a:rPr lang="es-PE" noProof="0" dirty="0">
                <a:solidFill>
                  <a:schemeClr val="tx1"/>
                </a:solidFill>
              </a:rPr>
            </a:br>
            <a:br>
              <a:rPr lang="es-PE" noProof="0" dirty="0">
                <a:solidFill>
                  <a:schemeClr val="tx1"/>
                </a:solidFill>
              </a:rPr>
            </a:br>
            <a:r>
              <a:rPr lang="es-PE" noProof="0" dirty="0">
                <a:solidFill>
                  <a:schemeClr val="tx1"/>
                </a:solidFill>
              </a:rPr>
              <a:t>• Código abierto, modular y actualizable sin obsolescencia.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371600"/>
            <a:ext cx="2606040" cy="5029200"/>
          </a:xfrm>
          <a:prstGeom prst="roundRect">
            <a:avLst/>
          </a:prstGeom>
          <a:solidFill>
            <a:srgbClr val="F0F5F1"/>
          </a:solidFill>
          <a:ln w="19050">
            <a:solidFill>
              <a:srgbClr val="8D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8D5B4C"/>
                </a:solidFill>
                <a:latin typeface="Arial"/>
              </a:defRPr>
            </a:pPr>
            <a:r>
              <a:rPr lang="es-PE" noProof="0" dirty="0"/>
              <a:t>👥 Social</a:t>
            </a:r>
          </a:p>
          <a:p>
            <a:br>
              <a:rPr lang="es-PE" noProof="0" dirty="0">
                <a:solidFill>
                  <a:schemeClr val="tx1"/>
                </a:solidFill>
              </a:rPr>
            </a:br>
            <a:r>
              <a:rPr lang="es-PE" noProof="0" dirty="0">
                <a:solidFill>
                  <a:schemeClr val="tx1"/>
                </a:solidFill>
              </a:rPr>
              <a:t>• Diseño accesible con iconos, emojis y animaciones para todas las edades.</a:t>
            </a:r>
            <a:br>
              <a:rPr lang="es-PE" noProof="0" dirty="0">
                <a:solidFill>
                  <a:schemeClr val="tx1"/>
                </a:solidFill>
              </a:rPr>
            </a:br>
            <a:br>
              <a:rPr lang="es-PE" noProof="0" dirty="0">
                <a:solidFill>
                  <a:schemeClr val="tx1"/>
                </a:solidFill>
              </a:rPr>
            </a:br>
            <a:r>
              <a:rPr lang="es-PE" noProof="0" dirty="0">
                <a:solidFill>
                  <a:schemeClr val="tx1"/>
                </a:solidFill>
              </a:rPr>
              <a:t>• Debate colaborativo en el aula: decisiones de mantenimiento en equipo.</a:t>
            </a:r>
            <a:br>
              <a:rPr lang="es-PE" noProof="0" dirty="0">
                <a:solidFill>
                  <a:schemeClr val="tx1"/>
                </a:solidFill>
              </a:rPr>
            </a:br>
            <a:br>
              <a:rPr lang="es-PE" noProof="0" dirty="0">
                <a:solidFill>
                  <a:schemeClr val="tx1"/>
                </a:solidFill>
              </a:rPr>
            </a:br>
            <a:r>
              <a:rPr lang="es-PE" noProof="0" dirty="0">
                <a:solidFill>
                  <a:schemeClr val="tx1"/>
                </a:solidFill>
              </a:rPr>
              <a:t>• El conocimiento se traslada a las familias y comunidades.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371600"/>
            <a:ext cx="2606040" cy="5029200"/>
          </a:xfrm>
          <a:prstGeom prst="roundRect">
            <a:avLst/>
          </a:prstGeom>
          <a:solidFill>
            <a:srgbClr val="F0F5F1"/>
          </a:solidFill>
          <a:ln w="19050">
            <a:solidFill>
              <a:srgbClr val="2C5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C5E3B"/>
                </a:solidFill>
                <a:latin typeface="Arial"/>
              </a:defRPr>
            </a:pPr>
            <a:r>
              <a:rPr lang="es-PE" noProof="0" dirty="0"/>
              <a:t>🏔️ Cultural</a:t>
            </a:r>
          </a:p>
          <a:p>
            <a:br>
              <a:rPr lang="es-PE" noProof="0" dirty="0">
                <a:solidFill>
                  <a:schemeClr val="tx1"/>
                </a:solidFill>
              </a:rPr>
            </a:br>
            <a:r>
              <a:rPr lang="es-PE" noProof="0" dirty="0">
                <a:solidFill>
                  <a:schemeClr val="tx1"/>
                </a:solidFill>
              </a:rPr>
              <a:t>• Recupera el concepto andino de Ayni: devolver nutrientes a la Pachamama.</a:t>
            </a:r>
            <a:br>
              <a:rPr lang="es-PE" noProof="0" dirty="0">
                <a:solidFill>
                  <a:schemeClr val="tx1"/>
                </a:solidFill>
              </a:rPr>
            </a:br>
            <a:br>
              <a:rPr lang="es-PE" noProof="0" dirty="0">
                <a:solidFill>
                  <a:schemeClr val="tx1"/>
                </a:solidFill>
              </a:rPr>
            </a:br>
            <a:r>
              <a:rPr lang="es-PE" noProof="0" dirty="0">
                <a:solidFill>
                  <a:schemeClr val="tx1"/>
                </a:solidFill>
              </a:rPr>
              <a:t>• Prioriza insumos locales de Cusco (aserrín, hojas secas, mermas de mercado).</a:t>
            </a:r>
            <a:br>
              <a:rPr lang="es-PE" noProof="0" dirty="0">
                <a:solidFill>
                  <a:schemeClr val="tx1"/>
                </a:solidFill>
              </a:rPr>
            </a:br>
            <a:br>
              <a:rPr lang="es-PE" noProof="0" dirty="0">
                <a:solidFill>
                  <a:schemeClr val="tx1"/>
                </a:solidFill>
              </a:rPr>
            </a:br>
            <a:r>
              <a:rPr lang="es-PE" noProof="0" dirty="0">
                <a:solidFill>
                  <a:schemeClr val="tx1"/>
                </a:solidFill>
              </a:rPr>
              <a:t>• Vincula la cosmovisión andina con la ciencia moderna.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1371600"/>
            <a:ext cx="2606040" cy="5029200"/>
          </a:xfrm>
          <a:prstGeom prst="roundRect">
            <a:avLst/>
          </a:prstGeom>
          <a:solidFill>
            <a:srgbClr val="F0F5F1"/>
          </a:solidFill>
          <a:ln w="19050">
            <a:solidFill>
              <a:srgbClr val="8D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8D5B4C"/>
                </a:solidFill>
                <a:latin typeface="Arial"/>
              </a:defRPr>
            </a:pPr>
            <a:r>
              <a:rPr lang="es-PE" noProof="0" dirty="0"/>
              <a:t>💰 Económica</a:t>
            </a:r>
          </a:p>
          <a:p>
            <a:br>
              <a:rPr lang="es-PE" noProof="0" dirty="0">
                <a:solidFill>
                  <a:schemeClr val="tx1"/>
                </a:solidFill>
              </a:rPr>
            </a:br>
            <a:r>
              <a:rPr lang="es-PE" noProof="0" dirty="0">
                <a:solidFill>
                  <a:schemeClr val="tx1"/>
                </a:solidFill>
              </a:rPr>
              <a:t>• Costo cero: HTML5 + CSS3 + JS libre.</a:t>
            </a:r>
            <a:br>
              <a:rPr lang="es-PE" noProof="0" dirty="0">
                <a:solidFill>
                  <a:schemeClr val="tx1"/>
                </a:solidFill>
              </a:rPr>
            </a:br>
            <a:br>
              <a:rPr lang="es-PE" noProof="0" dirty="0">
                <a:solidFill>
                  <a:schemeClr val="tx1"/>
                </a:solidFill>
              </a:rPr>
            </a:br>
            <a:r>
              <a:rPr lang="es-PE" noProof="0" dirty="0">
                <a:solidFill>
                  <a:schemeClr val="tx1"/>
                </a:solidFill>
              </a:rPr>
              <a:t>• Sin servidor: la partida se guarda localmente (</a:t>
            </a:r>
            <a:r>
              <a:rPr lang="es-PE" noProof="0" dirty="0" err="1">
                <a:solidFill>
                  <a:schemeClr val="tx1"/>
                </a:solidFill>
              </a:rPr>
              <a:t>localStorage</a:t>
            </a:r>
            <a:r>
              <a:rPr lang="es-PE" noProof="0" dirty="0">
                <a:solidFill>
                  <a:schemeClr val="tx1"/>
                </a:solidFill>
              </a:rPr>
              <a:t>).</a:t>
            </a:r>
            <a:br>
              <a:rPr lang="es-PE" noProof="0" dirty="0">
                <a:solidFill>
                  <a:schemeClr val="tx1"/>
                </a:solidFill>
              </a:rPr>
            </a:br>
            <a:br>
              <a:rPr lang="es-PE" noProof="0" dirty="0">
                <a:solidFill>
                  <a:schemeClr val="tx1"/>
                </a:solidFill>
              </a:rPr>
            </a:br>
            <a:r>
              <a:rPr lang="es-PE" noProof="0" dirty="0">
                <a:solidFill>
                  <a:schemeClr val="tx1"/>
                </a:solidFill>
              </a:rPr>
              <a:t>• Redistribuible sin restricciones para colegios, </a:t>
            </a:r>
            <a:r>
              <a:rPr lang="es-PE" noProof="0" dirty="0" err="1">
                <a:solidFill>
                  <a:schemeClr val="tx1"/>
                </a:solidFill>
              </a:rPr>
              <a:t>ONGs</a:t>
            </a:r>
            <a:r>
              <a:rPr lang="es-PE" noProof="0" dirty="0">
                <a:solidFill>
                  <a:schemeClr val="tx1"/>
                </a:solidFill>
              </a:rPr>
              <a:t> y comunidades.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8D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rPr lang="es-PE" noProof="0" dirty="0"/>
              <a:t>3. Innovación: ¿Cómo Funciona Compost-</a:t>
            </a:r>
            <a:r>
              <a:rPr lang="es-PE" noProof="0" dirty="0" err="1"/>
              <a:t>gotchi</a:t>
            </a:r>
            <a:r>
              <a:rPr lang="es-PE" noProof="0" dirty="0"/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303520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C5E3B"/>
                </a:solidFill>
                <a:latin typeface="Arial"/>
              </a:defRPr>
            </a:pPr>
            <a:r>
              <a:rPr lang="es-PE" noProof="0" dirty="0"/>
              <a:t>Motor de simulación biológica</a:t>
            </a:r>
          </a:p>
          <a:p>
            <a:pPr>
              <a:spcBef>
                <a:spcPts val="1000"/>
              </a:spcBef>
              <a:defRPr sz="1500" b="0" i="0">
                <a:solidFill>
                  <a:srgbClr val="2B2B2B"/>
                </a:solidFill>
                <a:latin typeface="Arial"/>
              </a:defRPr>
            </a:pPr>
            <a:r>
              <a:rPr lang="es-PE" noProof="0" dirty="0"/>
              <a:t>• 3 climas (Árido ☀️, Templado ⛅, Tropical 🌧️) que alteran evaporación y retención de calor.</a:t>
            </a:r>
            <a:br>
              <a:rPr lang="es-PE" noProof="0" dirty="0"/>
            </a:br>
            <a:br>
              <a:rPr lang="es-PE" noProof="0" dirty="0"/>
            </a:br>
            <a:r>
              <a:rPr lang="es-PE" noProof="0" dirty="0"/>
              <a:t>• 3 métodos de compostaje (Pila 🪵, </a:t>
            </a:r>
            <a:r>
              <a:rPr lang="es-PE" noProof="0" dirty="0" err="1"/>
              <a:t>Vermicompostera</a:t>
            </a:r>
            <a:r>
              <a:rPr lang="es-PE" noProof="0" dirty="0"/>
              <a:t> 🪱, Giratoria 🔄) con límites propios de temperatura y materiales.</a:t>
            </a:r>
            <a:br>
              <a:rPr lang="es-PE" noProof="0" dirty="0"/>
            </a:br>
            <a:br>
              <a:rPr lang="es-PE" noProof="0" dirty="0"/>
            </a:br>
            <a:r>
              <a:rPr lang="es-PE" noProof="0" dirty="0"/>
              <a:t>• Cálculo dinámico de eficiencia basado en humedad, oxígeno y balance C:N.</a:t>
            </a:r>
          </a:p>
          <a:p>
            <a:pPr>
              <a:spcBef>
                <a:spcPts val="1800"/>
              </a:spcBef>
              <a:defRPr sz="2000" b="1" i="0">
                <a:solidFill>
                  <a:srgbClr val="8D5B4C"/>
                </a:solidFill>
                <a:latin typeface="Arial"/>
              </a:defRPr>
            </a:pPr>
            <a:r>
              <a:rPr lang="es-PE" noProof="0" dirty="0"/>
              <a:t>Mascota reactiva</a:t>
            </a:r>
          </a:p>
          <a:p>
            <a:pPr>
              <a:spcBef>
                <a:spcPts val="800"/>
              </a:spcBef>
              <a:defRPr sz="1500" b="0" i="0">
                <a:solidFill>
                  <a:srgbClr val="2B2B2B"/>
                </a:solidFill>
                <a:latin typeface="Arial"/>
              </a:defRPr>
            </a:pPr>
            <a:r>
              <a:rPr lang="es-PE" noProof="0" dirty="0"/>
              <a:t>• Expresiones faciales según la salud del ecosistema.</a:t>
            </a:r>
            <a:br>
              <a:rPr lang="es-PE" noProof="0" dirty="0"/>
            </a:br>
            <a:r>
              <a:rPr lang="es-PE" noProof="0" dirty="0"/>
              <a:t>• Efectos visuales: vapor, grietas, encharcamiento, nubes de olor, sudor térmico.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C5E3B"/>
                </a:solidFill>
                <a:latin typeface="Arial"/>
              </a:defRPr>
            </a:pPr>
            <a:r>
              <a:rPr lang="es-PE" noProof="0" dirty="0"/>
              <a:t>Gamificación educativa</a:t>
            </a:r>
          </a:p>
          <a:p>
            <a:pPr>
              <a:spcBef>
                <a:spcPts val="1000"/>
              </a:spcBef>
              <a:defRPr sz="1500" b="0" i="0">
                <a:solidFill>
                  <a:srgbClr val="2B2B2B"/>
                </a:solidFill>
                <a:latin typeface="Arial"/>
              </a:defRPr>
            </a:pPr>
            <a:r>
              <a:rPr lang="es-PE" noProof="0" dirty="0"/>
              <a:t>• Sistema de XP y 5 niveles (Novato → Experto Compostador).</a:t>
            </a:r>
            <a:br>
              <a:rPr lang="es-PE" noProof="0" dirty="0"/>
            </a:br>
            <a:br>
              <a:rPr lang="es-PE" noProof="0" dirty="0"/>
            </a:br>
            <a:r>
              <a:rPr lang="es-PE" noProof="0" dirty="0"/>
              <a:t>• 8 logros desbloqueables vinculados a hitos reales del compostaje.</a:t>
            </a:r>
            <a:br>
              <a:rPr lang="es-PE" noProof="0" dirty="0"/>
            </a:br>
            <a:br>
              <a:rPr lang="es-PE" noProof="0" dirty="0"/>
            </a:br>
            <a:r>
              <a:rPr lang="es-PE" noProof="0" dirty="0"/>
              <a:t>• 3 minijuegos didácticos:</a:t>
            </a:r>
            <a:br>
              <a:rPr lang="es-PE" noProof="0" dirty="0"/>
            </a:br>
            <a:r>
              <a:rPr lang="es-PE" noProof="0" dirty="0"/>
              <a:t>   ♻️ Clasificación de residuos</a:t>
            </a:r>
            <a:br>
              <a:rPr lang="es-PE" noProof="0" dirty="0"/>
            </a:br>
            <a:r>
              <a:rPr lang="es-PE" noProof="0" dirty="0"/>
              <a:t>   ⚖️ Taller de proporción C:N</a:t>
            </a:r>
            <a:br>
              <a:rPr lang="es-PE" noProof="0" dirty="0"/>
            </a:br>
            <a:r>
              <a:rPr lang="es-PE" noProof="0" dirty="0"/>
              <a:t>   🚨 Quiz de emergencia en la compostera</a:t>
            </a:r>
          </a:p>
          <a:p>
            <a:pPr>
              <a:spcBef>
                <a:spcPts val="1800"/>
              </a:spcBef>
              <a:defRPr sz="2000" b="1" i="0">
                <a:solidFill>
                  <a:srgbClr val="8D5B4C"/>
                </a:solidFill>
                <a:latin typeface="Arial"/>
              </a:defRPr>
            </a:pPr>
            <a:r>
              <a:rPr lang="es-PE" noProof="0" dirty="0"/>
              <a:t>Público objetivo</a:t>
            </a:r>
          </a:p>
          <a:p>
            <a:pPr>
              <a:spcBef>
                <a:spcPts val="800"/>
              </a:spcBef>
              <a:defRPr sz="1500" b="0" i="0">
                <a:solidFill>
                  <a:srgbClr val="2B2B2B"/>
                </a:solidFill>
                <a:latin typeface="Arial"/>
              </a:defRPr>
            </a:pPr>
            <a:r>
              <a:rPr lang="es-PE" noProof="0" dirty="0"/>
              <a:t>• Diseñado para estudiantes de EBR del Cusco.</a:t>
            </a:r>
            <a:br>
              <a:rPr lang="es-PE" noProof="0" dirty="0"/>
            </a:br>
            <a:r>
              <a:rPr lang="es-PE" noProof="0" dirty="0"/>
              <a:t>• Accesible para cualquier persona interesada en la sostenibilidad.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5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8D5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rPr lang="es-PE" noProof="0" dirty="0"/>
              <a:t>4. Planificación e Impacto Esperado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2606040" cy="2560320"/>
          </a:xfrm>
          <a:prstGeom prst="roundRect">
            <a:avLst/>
          </a:prstGeom>
          <a:solidFill>
            <a:srgbClr val="F0F5F1"/>
          </a:solidFill>
          <a:ln w="19050">
            <a:solidFill>
              <a:srgbClr val="2C5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C5E3B"/>
                </a:solidFill>
                <a:latin typeface="Arial"/>
              </a:defRPr>
            </a:pPr>
            <a:r>
              <a:rPr lang="es-PE" noProof="0" dirty="0"/>
              <a:t>Fase 1</a:t>
            </a:r>
            <a:br>
              <a:rPr lang="es-PE" noProof="0" dirty="0"/>
            </a:br>
            <a:r>
              <a:rPr lang="es-PE" noProof="0" dirty="0"/>
              <a:t>Diagnóstico</a:t>
            </a:r>
          </a:p>
          <a:p>
            <a:br>
              <a:rPr lang="es-PE" noProof="0" dirty="0">
                <a:solidFill>
                  <a:schemeClr val="tx1"/>
                </a:solidFill>
              </a:rPr>
            </a:br>
            <a:r>
              <a:rPr lang="es-PE" noProof="0" dirty="0">
                <a:solidFill>
                  <a:schemeClr val="tx1"/>
                </a:solidFill>
              </a:rPr>
              <a:t>Análisis de la problemática de residuos en Cusco y revisión de ODS.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2C5E3B"/>
                </a:solidFill>
                <a:latin typeface="Arial"/>
              </a:defRPr>
            </a:pPr>
            <a:r>
              <a:rPr lang="es-PE" dirty="0"/>
              <a:t>1</a:t>
            </a:r>
            <a:r>
              <a:rPr lang="es-PE" noProof="0" dirty="0"/>
              <a:t> día.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371600"/>
            <a:ext cx="2606040" cy="2560320"/>
          </a:xfrm>
          <a:prstGeom prst="roundRect">
            <a:avLst/>
          </a:prstGeom>
          <a:solidFill>
            <a:srgbClr val="F0F5F1"/>
          </a:solidFill>
          <a:ln w="19050">
            <a:solidFill>
              <a:srgbClr val="8D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8D5B4C"/>
                </a:solidFill>
                <a:latin typeface="Arial"/>
              </a:defRPr>
            </a:pPr>
            <a:r>
              <a:rPr lang="es-PE" noProof="0" dirty="0"/>
              <a:t>Fase 2</a:t>
            </a:r>
            <a:br>
              <a:rPr lang="es-PE" noProof="0" dirty="0"/>
            </a:br>
            <a:r>
              <a:rPr lang="es-PE" noProof="0" dirty="0"/>
              <a:t>Diseño</a:t>
            </a:r>
          </a:p>
          <a:p>
            <a:br>
              <a:rPr lang="es-PE" noProof="0" dirty="0">
                <a:solidFill>
                  <a:schemeClr val="tx1"/>
                </a:solidFill>
              </a:rPr>
            </a:br>
            <a:r>
              <a:rPr lang="es-PE" noProof="0" dirty="0">
                <a:solidFill>
                  <a:schemeClr val="tx1"/>
                </a:solidFill>
              </a:rPr>
              <a:t>Identidad visual, vectores de la mascota e interfaz responsiva.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8D5B4C"/>
                </a:solidFill>
                <a:latin typeface="Arial"/>
              </a:defRPr>
            </a:pPr>
            <a:r>
              <a:rPr lang="es-PE" noProof="0" dirty="0"/>
              <a:t>2 </a:t>
            </a:r>
            <a:r>
              <a:rPr lang="es-PE" dirty="0"/>
              <a:t>día</a:t>
            </a:r>
            <a:r>
              <a:rPr lang="es-PE" noProof="0"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371600"/>
            <a:ext cx="2606040" cy="2560320"/>
          </a:xfrm>
          <a:prstGeom prst="roundRect">
            <a:avLst/>
          </a:prstGeom>
          <a:solidFill>
            <a:srgbClr val="F0F5F1"/>
          </a:solidFill>
          <a:ln w="19050">
            <a:solidFill>
              <a:srgbClr val="2C5E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2C5E3B"/>
                </a:solidFill>
                <a:latin typeface="Arial"/>
              </a:defRPr>
            </a:pPr>
            <a:r>
              <a:rPr lang="es-PE" noProof="0" dirty="0"/>
              <a:t>Fase 3</a:t>
            </a:r>
            <a:br>
              <a:rPr lang="es-PE" noProof="0" dirty="0"/>
            </a:br>
            <a:r>
              <a:rPr lang="es-PE" noProof="0" dirty="0"/>
              <a:t>Desarrollo</a:t>
            </a:r>
          </a:p>
          <a:p>
            <a:br>
              <a:rPr lang="es-PE" noProof="0" dirty="0">
                <a:solidFill>
                  <a:schemeClr val="tx1"/>
                </a:solidFill>
              </a:rPr>
            </a:br>
            <a:r>
              <a:rPr lang="es-PE" noProof="0" dirty="0">
                <a:solidFill>
                  <a:schemeClr val="tx1"/>
                </a:solidFill>
              </a:rPr>
              <a:t>Motor biológico, sistema XP/niveles y 3 minijuegos educativos.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2C5E3B"/>
                </a:solidFill>
                <a:latin typeface="Arial"/>
              </a:defRPr>
            </a:pPr>
            <a:r>
              <a:rPr lang="es-PE" noProof="0" dirty="0"/>
              <a:t>3 </a:t>
            </a:r>
            <a:r>
              <a:rPr lang="es-PE" dirty="0"/>
              <a:t>día</a:t>
            </a:r>
            <a:r>
              <a:rPr lang="es-PE" noProof="0"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1371600"/>
            <a:ext cx="2606040" cy="2560320"/>
          </a:xfrm>
          <a:prstGeom prst="roundRect">
            <a:avLst/>
          </a:prstGeom>
          <a:solidFill>
            <a:srgbClr val="F0F5F1"/>
          </a:solidFill>
          <a:ln w="19050">
            <a:solidFill>
              <a:srgbClr val="8D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8D5B4C"/>
                </a:solidFill>
                <a:latin typeface="Arial"/>
              </a:defRPr>
            </a:pPr>
            <a:r>
              <a:rPr lang="es-PE" noProof="0" dirty="0"/>
              <a:t>Fase 4</a:t>
            </a:r>
            <a:br>
              <a:rPr lang="es-PE" noProof="0" dirty="0"/>
            </a:br>
            <a:r>
              <a:rPr lang="es-PE" noProof="0" dirty="0"/>
              <a:t>Evaluación</a:t>
            </a:r>
          </a:p>
          <a:p>
            <a:br>
              <a:rPr lang="es-PE" noProof="0" dirty="0">
                <a:solidFill>
                  <a:schemeClr val="tx1"/>
                </a:solidFill>
              </a:rPr>
            </a:br>
            <a:r>
              <a:rPr lang="es-PE" noProof="0" dirty="0">
                <a:solidFill>
                  <a:schemeClr val="tx1"/>
                </a:solidFill>
              </a:rPr>
              <a:t>Pruebas con estudiantes EBR, retroalimentación y sustentación final.</a:t>
            </a:r>
          </a:p>
          <a:p>
            <a:pPr algn="ctr">
              <a:spcBef>
                <a:spcPts val="800"/>
              </a:spcBef>
              <a:defRPr sz="1200" b="1">
                <a:solidFill>
                  <a:srgbClr val="8D5B4C"/>
                </a:solidFill>
                <a:latin typeface="Arial"/>
              </a:defRPr>
            </a:pPr>
            <a:r>
              <a:rPr lang="es-PE" noProof="0" dirty="0"/>
              <a:t>4 </a:t>
            </a:r>
            <a:r>
              <a:rPr lang="es-PE" dirty="0"/>
              <a:t>día</a:t>
            </a:r>
            <a:r>
              <a:rPr lang="es-PE" noProof="0"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97680"/>
            <a:ext cx="10972800" cy="145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C5E3B"/>
                </a:solidFill>
                <a:latin typeface="Arial"/>
              </a:defRPr>
            </a:pPr>
            <a:r>
              <a:rPr lang="es-PE" noProof="0" dirty="0"/>
              <a:t>Impacto esperado</a:t>
            </a:r>
          </a:p>
          <a:p>
            <a:pPr>
              <a:spcBef>
                <a:spcPts val="1000"/>
              </a:spcBef>
              <a:defRPr sz="1500" b="0" i="0">
                <a:solidFill>
                  <a:srgbClr val="2B2B2B"/>
                </a:solidFill>
                <a:latin typeface="Arial"/>
              </a:defRPr>
            </a:pPr>
            <a:r>
              <a:rPr lang="es-PE" noProof="0" dirty="0"/>
              <a:t>🌿 Ambiental — Menos residuos orgánicos en vertederos de Cusco.      📚 Educativo — Herramienta STEM gratuita para clases de CTA en EBR.</a:t>
            </a:r>
            <a:br>
              <a:rPr lang="es-PE" noProof="0" dirty="0"/>
            </a:br>
            <a:r>
              <a:rPr lang="es-PE" noProof="0" dirty="0"/>
              <a:t>🏔️ Cultural — Conexión entre compostaje moderno y el Ayni andino.      👥 Social — Cohesión comunitaria en torno a 															  prácticas ecológicas.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ánico">
  <a:themeElements>
    <a:clrScheme name="Orgá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á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á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16</TotalTime>
  <Words>718</Words>
  <Application>Microsoft Office PowerPoint</Application>
  <PresentationFormat>Personalizado</PresentationFormat>
  <Paragraphs>45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Garamond</vt:lpstr>
      <vt:lpstr>Orgánico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Jimy Peralta Oviedo</cp:lastModifiedBy>
  <cp:revision>2</cp:revision>
  <dcterms:created xsi:type="dcterms:W3CDTF">2013-01-27T09:14:16Z</dcterms:created>
  <dcterms:modified xsi:type="dcterms:W3CDTF">2026-07-09T22:41:57Z</dcterms:modified>
  <cp:category/>
</cp:coreProperties>
</file>