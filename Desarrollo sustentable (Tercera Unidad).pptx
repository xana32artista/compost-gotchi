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5" r:id="rId3"/>
    <p:sldId id="257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0B785-7D37-53DF-17E4-32E033728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4E766B-BA45-D452-45E5-5FEF06E7C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5E8949-6FD0-12D0-EACF-CA001574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347B4-A1D3-0D8B-B002-875BBDAA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F30F2F-CC00-2CED-9AAF-F6D8CFA1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24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97D7F-15E3-1B10-A750-9AB183EA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5483D-7F2A-FE0A-FFEB-4650569FF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7C3BD-2090-10D7-A913-FF838A11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A5E376-7937-EF50-EFC2-72E4BDEB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AA824B-AA16-E369-98D5-E7E801D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370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3BD9E-59DA-DC7F-D46D-B7B8F266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DF5F55-1D89-F2B5-D366-DA071B33A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921A7D-3203-1342-EDE2-E2E26E88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DD8FBC-9745-02C0-BBA4-5C5A1248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841349-D70F-857C-E184-D27B9BF2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252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625FF-3FA2-DC1B-D058-0853A485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3072CA-207F-5194-1B19-CD6ECCE6D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3C2FA1-8E5B-5B37-8FF3-D8CD25E0B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B1F6F3-87A7-577E-BAED-0E7E6A20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5AF57-C92E-4F4E-F97D-2D38F020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0DF3B9-047A-33DD-F006-CDB5CDCC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119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F978A-2E9A-05E8-9BCA-AF96F7CD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9B367A-0F4F-DA60-26B6-3FD8C9D1F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1A6266-C23B-EE93-47A8-B159E4299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647E91-26E3-DA9B-B9E1-26818B237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40FF53-6F4E-E074-0029-F5CD324E5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6C2A8F-9105-3075-87F8-9C24F83E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A3E759-C056-5A85-0193-F6878099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A4E3F8F-474B-3F9E-7324-A074534C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62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ADFE6-DF06-3023-C49F-26AB8EAE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EDDE09-C39B-B449-6FE7-17E85D38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1C63D3-D964-38FE-2B25-0AA8B1DB3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BDAB2A-DE16-D9FE-1E20-AF3D4B51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02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1C95BA-D742-67C3-0598-13B1F52D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1AC62A-0BFC-6D5A-46D8-2E009577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068EAC-2243-D5EC-D95B-347F6A7B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546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62371-FE14-8922-2D65-C76757129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BF6F2-5852-923B-E07B-C89DB4373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DDCD26-DA8E-702A-FE1B-A21EBD482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AA2F0-EE75-78F2-017D-A410B76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A67639-2C57-A3C1-55FB-B7DB2BDD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F13711-1A12-A24D-21CA-7D9316D9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681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60223-ADD5-F0B7-D4B6-EE927104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81BB4D-0659-A82F-6205-36019C090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565BAB-0FA5-DFD0-22B0-16302D1EF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F29DD2-CC78-7F27-9577-C6FBC52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6318BC-336A-27A0-ACF8-0EE29FF0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86A801-2F89-2A1C-AB86-6FBEB5AA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199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68921-F49E-30D6-91E7-7DA0C639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3639BC-1391-663E-26AA-2E9B80D12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6862F1-CE81-C831-F246-DEBD72A3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440F3E-E5A1-536D-3019-94CD565C4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A78A4-D8EF-6A46-E7BC-53249FA6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820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BC7652-C681-FC00-BB50-41EB57B6B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59EDC9-70BC-1A5C-5343-012F714F4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DB17A9-5A7F-7C63-852C-EBD56BA0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CCEF9D-017F-7FF3-374C-B5CE20D5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C33BF9-7E17-3C21-8043-5332503B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124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E5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4408" y="355599"/>
            <a:ext cx="11678882" cy="1530351"/>
          </a:xfrm>
        </p:spPr>
        <p:txBody>
          <a:bodyPr anchor="t">
            <a:norm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err="1"/>
              <a:t>Nombre</a:t>
            </a:r>
            <a:r>
              <a:rPr lang="en-US"/>
              <a:t> de la </a:t>
            </a:r>
            <a:r>
              <a:rPr lang="en-US" err="1"/>
              <a:t>Unidad</a:t>
            </a:r>
            <a:r>
              <a:rPr lang="en-US"/>
              <a:t> </a:t>
            </a:r>
            <a:r>
              <a:rPr lang="en-US" err="1"/>
              <a:t>Didáctica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4409" y="5344038"/>
            <a:ext cx="11678882" cy="1171575"/>
          </a:xfrm>
        </p:spPr>
        <p:txBody>
          <a:bodyPr anchor="b">
            <a:normAutofit/>
          </a:bodyPr>
          <a:lstStyle>
            <a:lvl1pPr marL="0" indent="0" algn="r">
              <a:buNone/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Sesión</a:t>
            </a:r>
            <a:r>
              <a:rPr lang="en-US"/>
              <a:t> #1</a:t>
            </a:r>
          </a:p>
        </p:txBody>
      </p:sp>
    </p:spTree>
    <p:extLst>
      <p:ext uri="{BB962C8B-B14F-4D97-AF65-F5344CB8AC3E}">
        <p14:creationId xmlns:p14="http://schemas.microsoft.com/office/powerpoint/2010/main" val="205610820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275771"/>
            <a:ext cx="11674580" cy="2859315"/>
          </a:xfrm>
        </p:spPr>
        <p:txBody>
          <a:bodyPr anchor="b">
            <a:normAutofit/>
          </a:bodyPr>
          <a:lstStyle>
            <a:lvl1pPr>
              <a:defRPr lang="es-PE" sz="3200" b="1" spc="-150" dirty="0"/>
            </a:lvl1pPr>
          </a:lstStyle>
          <a:p>
            <a:r>
              <a:rPr lang="es-PE" sz="4000" b="1">
                <a:latin typeface="+mn-lt"/>
              </a:rPr>
              <a:t>Indicador de Logro #1: Nombre del indicador</a:t>
            </a:r>
            <a:endParaRPr lang="es-PE" sz="4000" b="1" spc="-15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710" y="3294743"/>
            <a:ext cx="11674580" cy="3280227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just"/>
            <a:r>
              <a:rPr lang="es-PE" sz="2400"/>
              <a:t>Descripción del indicador de logro…</a:t>
            </a:r>
            <a:endParaRPr lang="es-PE" sz="2400" spc="-150"/>
          </a:p>
        </p:txBody>
      </p:sp>
      <p:sp>
        <p:nvSpPr>
          <p:cNvPr id="9" name="Rectangle 8"/>
          <p:cNvSpPr/>
          <p:nvPr userDrawn="1"/>
        </p:nvSpPr>
        <p:spPr>
          <a:xfrm>
            <a:off x="12062645" y="7013985"/>
            <a:ext cx="25871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26909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275771"/>
            <a:ext cx="11674580" cy="2859315"/>
          </a:xfrm>
        </p:spPr>
        <p:txBody>
          <a:bodyPr anchor="b">
            <a:normAutofit/>
          </a:bodyPr>
          <a:lstStyle>
            <a:lvl1pPr>
              <a:defRPr lang="es-PE" sz="3200" b="1" spc="-150" dirty="0"/>
            </a:lvl1pPr>
          </a:lstStyle>
          <a:p>
            <a:r>
              <a:rPr lang="es-PE" sz="4000" b="1">
                <a:latin typeface="+mn-lt"/>
              </a:rPr>
              <a:t>Tema: Título del tema para la sesión</a:t>
            </a:r>
            <a:endParaRPr lang="es-PE" sz="4000" b="1" spc="-15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710" y="3294743"/>
            <a:ext cx="11674580" cy="3280227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just"/>
            <a:r>
              <a:rPr lang="es-PE" sz="2400"/>
              <a:t>Logro de la sesión…</a:t>
            </a:r>
            <a:endParaRPr lang="es-PE" sz="2400" spc="-150"/>
          </a:p>
        </p:txBody>
      </p:sp>
      <p:sp>
        <p:nvSpPr>
          <p:cNvPr id="9" name="Rectangle 8"/>
          <p:cNvSpPr/>
          <p:nvPr userDrawn="1"/>
        </p:nvSpPr>
        <p:spPr>
          <a:xfrm>
            <a:off x="12062645" y="7013985"/>
            <a:ext cx="25871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06321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365125"/>
            <a:ext cx="2570215" cy="6127750"/>
          </a:xfrm>
          <a:solidFill>
            <a:srgbClr val="FE5000"/>
          </a:solidFill>
        </p:spPr>
        <p:txBody>
          <a:bodyPr lIns="180000" tIns="180000" rIns="180000" bIns="180000" anchor="t">
            <a:normAutofit/>
          </a:bodyPr>
          <a:lstStyle>
            <a:lvl1pPr marL="0" indent="0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87634" y="365125"/>
            <a:ext cx="8845655" cy="6127750"/>
          </a:xfrm>
        </p:spPr>
        <p:txBody>
          <a:bodyPr anchor="ctr"/>
          <a:lstStyle>
            <a:lvl1pPr marL="514350" indent="-514350">
              <a:buFont typeface="+mj-lt"/>
              <a:buAutoNum type="arabicPeriod"/>
              <a:defRPr baseline="0"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err="1"/>
              <a:t>Tema</a:t>
            </a:r>
            <a:r>
              <a:rPr lang="en-US"/>
              <a:t> 1</a:t>
            </a:r>
          </a:p>
          <a:p>
            <a:pPr lvl="0"/>
            <a:r>
              <a:rPr lang="es-PE"/>
              <a:t>Tema 2</a:t>
            </a:r>
          </a:p>
          <a:p>
            <a:pPr lvl="0"/>
            <a:r>
              <a:rPr lang="es-PE"/>
              <a:t>Tema 3</a:t>
            </a:r>
          </a:p>
          <a:p>
            <a:pPr lvl="0"/>
            <a:r>
              <a:rPr lang="es-PE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92098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275771"/>
            <a:ext cx="11674580" cy="6311460"/>
          </a:xfrm>
        </p:spPr>
        <p:txBody>
          <a:bodyPr anchor="ctr">
            <a:normAutofit/>
          </a:bodyPr>
          <a:lstStyle>
            <a:lvl1pPr>
              <a:defRPr lang="es-PE" sz="3200" b="1" spc="-150" dirty="0"/>
            </a:lvl1pPr>
          </a:lstStyle>
          <a:p>
            <a:r>
              <a:rPr lang="es-PE" sz="4000" b="1">
                <a:latin typeface="+mn-lt"/>
              </a:rPr>
              <a:t>Tema 1</a:t>
            </a:r>
            <a:endParaRPr lang="es-PE" sz="4000" b="1" spc="-15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4925974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365125"/>
            <a:ext cx="2570215" cy="6127750"/>
          </a:xfrm>
          <a:solidFill>
            <a:srgbClr val="FE5000"/>
          </a:solidFill>
        </p:spPr>
        <p:txBody>
          <a:bodyPr lIns="180000" tIns="180000" rIns="180000" bIns="180000" anchor="t">
            <a:normAutofit/>
          </a:bodyPr>
          <a:lstStyle>
            <a:lvl1pPr marL="0" indent="0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lámina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87634" y="365125"/>
            <a:ext cx="8845655" cy="6127750"/>
          </a:xfrm>
        </p:spPr>
        <p:txBody>
          <a:bodyPr anchor="ctr"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err="1"/>
              <a:t>Contenido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  <a:p>
            <a:pPr lvl="4"/>
            <a:r>
              <a:rPr lang="en-US"/>
              <a:t>Quinto </a:t>
            </a:r>
            <a:r>
              <a:rPr lang="en-US" err="1"/>
              <a:t>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19183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087634" y="365124"/>
            <a:ext cx="8845655" cy="61277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PE"/>
              <a:t>Imagen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365125"/>
            <a:ext cx="2570215" cy="6127750"/>
          </a:xfrm>
          <a:solidFill>
            <a:srgbClr val="FE5000"/>
          </a:solidFill>
        </p:spPr>
        <p:txBody>
          <a:bodyPr lIns="180000" tIns="180000" rIns="180000" bIns="180000" anchor="t">
            <a:normAutofit/>
          </a:bodyPr>
          <a:lstStyle>
            <a:lvl1pPr marL="0" indent="0">
              <a:defRPr sz="3000" b="1" baseline="0">
                <a:solidFill>
                  <a:schemeClr val="bg1"/>
                </a:solidFill>
              </a:defRPr>
            </a:lvl1pPr>
          </a:lstStyle>
          <a:p>
            <a:r>
              <a:rPr lang="es-PE"/>
              <a:t>Título de la lámina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087634" y="6560456"/>
            <a:ext cx="8845655" cy="290286"/>
          </a:xfrm>
        </p:spPr>
        <p:txBody>
          <a:bodyPr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URL / </a:t>
            </a:r>
            <a:r>
              <a:rPr lang="en-US" err="1"/>
              <a:t>Bibliografía</a:t>
            </a:r>
            <a:r>
              <a:rPr lang="en-US"/>
              <a:t> / </a:t>
            </a:r>
            <a:r>
              <a:rPr lang="en-US" err="1"/>
              <a:t>Leyenda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43529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710" y="365125"/>
            <a:ext cx="2570215" cy="6127750"/>
          </a:xfrm>
          <a:solidFill>
            <a:srgbClr val="FE5000"/>
          </a:solidFill>
        </p:spPr>
        <p:txBody>
          <a:bodyPr lIns="180000" tIns="180000" rIns="180000" bIns="180000" anchor="t">
            <a:normAutofit/>
          </a:bodyPr>
          <a:lstStyle>
            <a:lvl1pPr marL="0" indent="0">
              <a:defRPr sz="3000" b="1" baseline="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lámina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62514" y="365125"/>
            <a:ext cx="4310743" cy="823912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columna</a:t>
            </a:r>
            <a:r>
              <a:rPr lang="en-US"/>
              <a:t> 1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062514" y="1189037"/>
            <a:ext cx="4310743" cy="53038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err="1"/>
              <a:t>Contenido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  <a:p>
            <a:pPr lvl="4"/>
            <a:r>
              <a:rPr lang="en-US"/>
              <a:t>Quinto </a:t>
            </a:r>
            <a:r>
              <a:rPr lang="en-US" err="1"/>
              <a:t>nivel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7606846" y="365125"/>
            <a:ext cx="4300312" cy="823912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columna</a:t>
            </a:r>
            <a:r>
              <a:rPr lang="en-US"/>
              <a:t> 2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7606846" y="1189037"/>
            <a:ext cx="4300312" cy="53038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err="1"/>
              <a:t>Contenido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  <a:p>
            <a:pPr lvl="4"/>
            <a:r>
              <a:rPr lang="en-US"/>
              <a:t>Quinto </a:t>
            </a:r>
            <a:r>
              <a:rPr lang="en-US" err="1"/>
              <a:t>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43768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66762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C747A7-1399-F849-59EE-40A5CBAC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FD1F35-B23F-FBEE-8503-F84B1410F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B6F7DA-55BC-1E54-717F-892FB4230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4C9BF-815C-46A3-8B6A-4FAA2A584064}" type="datetimeFigureOut">
              <a:rPr lang="es-PE" smtClean="0"/>
              <a:t>9/07/2026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87DADE-0FE6-922E-D2F6-A5FAEE15E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2B93B-500F-6BAE-78A4-337A82518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F2EEA-1C3A-4327-B965-AA5870EEC5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28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lámina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err="1"/>
              <a:t>Contenido</a:t>
            </a:r>
            <a:endParaRPr lang="en-US"/>
          </a:p>
          <a:p>
            <a:pPr lvl="1"/>
            <a:r>
              <a:rPr lang="en-US"/>
              <a:t>Segundo </a:t>
            </a:r>
            <a:r>
              <a:rPr lang="en-US" err="1"/>
              <a:t>nivel</a:t>
            </a:r>
            <a:endParaRPr lang="en-US"/>
          </a:p>
          <a:p>
            <a:pPr lvl="2"/>
            <a:r>
              <a:rPr lang="en-US" err="1"/>
              <a:t>Tercer</a:t>
            </a:r>
            <a:r>
              <a:rPr lang="en-US"/>
              <a:t> </a:t>
            </a:r>
            <a:r>
              <a:rPr lang="en-US" err="1"/>
              <a:t>nivel</a:t>
            </a:r>
            <a:endParaRPr lang="en-US"/>
          </a:p>
          <a:p>
            <a:pPr lvl="3"/>
            <a:r>
              <a:rPr lang="en-US"/>
              <a:t>Cuarto </a:t>
            </a:r>
            <a:r>
              <a:rPr lang="en-US" err="1"/>
              <a:t>nivel</a:t>
            </a:r>
            <a:endParaRPr lang="en-US"/>
          </a:p>
          <a:p>
            <a:pPr lvl="4"/>
            <a:r>
              <a:rPr lang="en-US"/>
              <a:t>Quinto </a:t>
            </a:r>
            <a:r>
              <a:rPr lang="en-US" err="1"/>
              <a:t>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2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E5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3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BCCE8B4-D0E6-5136-FD18-1A282D090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452" y="4981142"/>
            <a:ext cx="6498827" cy="154224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lvl="0"/>
            <a:r>
              <a:rPr lang="es-PE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sustentable (Tercera Unidad)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9B53918-D66B-92AA-AE92-2D1D9C281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1825" y="4559253"/>
            <a:ext cx="4513723" cy="162951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000" kern="1200" dirty="0">
                <a:latin typeface="+mn-lt"/>
                <a:cs typeface="+mn-cs"/>
              </a:rPr>
              <a:t>ELABORADO POR: </a:t>
            </a:r>
            <a:r>
              <a:rPr lang="en-US" sz="2000" b="1" kern="1200" dirty="0">
                <a:latin typeface="+mn-lt"/>
                <a:cs typeface="+mn-cs"/>
              </a:rPr>
              <a:t>Mag. </a:t>
            </a:r>
            <a:r>
              <a:rPr lang="en-US" sz="2000" b="1" kern="1200" dirty="0" err="1">
                <a:latin typeface="+mn-lt"/>
                <a:cs typeface="+mn-cs"/>
              </a:rPr>
              <a:t>Maruja</a:t>
            </a:r>
            <a:r>
              <a:rPr lang="en-US" sz="2000" b="1" kern="1200" dirty="0">
                <a:latin typeface="+mn-lt"/>
                <a:cs typeface="+mn-cs"/>
              </a:rPr>
              <a:t> </a:t>
            </a:r>
            <a:r>
              <a:rPr lang="en-US" sz="2000" b="1" kern="1200" dirty="0" err="1">
                <a:latin typeface="+mn-lt"/>
                <a:cs typeface="+mn-cs"/>
              </a:rPr>
              <a:t>Huayhuaca</a:t>
            </a:r>
            <a:r>
              <a:rPr lang="en-US" sz="2000" b="1" kern="1200" dirty="0">
                <a:latin typeface="+mn-lt"/>
                <a:cs typeface="+mn-cs"/>
              </a:rPr>
              <a:t> </a:t>
            </a:r>
            <a:r>
              <a:rPr lang="en-US" sz="2000" b="1" kern="1200" dirty="0" err="1">
                <a:latin typeface="+mn-lt"/>
                <a:cs typeface="+mn-cs"/>
              </a:rPr>
              <a:t>Hermoza</a:t>
            </a:r>
            <a:endParaRPr lang="en-US" sz="2000" b="1" kern="1200" dirty="0">
              <a:latin typeface="+mn-lt"/>
              <a:cs typeface="+mn-cs"/>
            </a:endParaRPr>
          </a:p>
          <a:p>
            <a:pPr algn="ctr"/>
            <a:r>
              <a:rPr lang="en-US" sz="2000" dirty="0">
                <a:latin typeface="+mn-lt"/>
                <a:cs typeface="+mn-cs"/>
              </a:rPr>
              <a:t>Cusco-Perú</a:t>
            </a:r>
          </a:p>
          <a:p>
            <a:pPr algn="ctr"/>
            <a:r>
              <a:rPr lang="en-US" sz="2000" kern="1200" dirty="0">
                <a:latin typeface="+mn-lt"/>
                <a:cs typeface="+mn-cs"/>
              </a:rPr>
              <a:t>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4F2E542-4165-840F-587D-6DA0E9FD6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97" r="12586"/>
          <a:stretch/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C4FC808-8B34-F93E-0957-22EC7D9285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417" b="22410"/>
          <a:stretch/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41" name="Group 35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37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04544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6A1E4-6712-D685-F141-BD5E6C9A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34" y="0"/>
            <a:ext cx="10515600" cy="1325563"/>
          </a:xfrm>
        </p:spPr>
        <p:txBody>
          <a:bodyPr>
            <a:normAutofit/>
          </a:bodyPr>
          <a:lstStyle/>
          <a:p>
            <a:r>
              <a:rPr lang="es-PE" sz="2000" b="1" dirty="0"/>
              <a:t>Metodología para elaborar proyectos artísticos sustentables-Todas tienen que ver con la agenda 2030, propuesta por la ONU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6968B0-F4D3-1A08-8C98-E2795638C70B}"/>
              </a:ext>
            </a:extLst>
          </p:cNvPr>
          <p:cNvSpPr txBox="1"/>
          <p:nvPr/>
        </p:nvSpPr>
        <p:spPr>
          <a:xfrm>
            <a:off x="328534" y="1019490"/>
            <a:ext cx="11338809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Diagnóstico y planeación:</a:t>
            </a:r>
            <a:r>
              <a:rPr lang="es-ES" sz="2000" dirty="0"/>
              <a:t> Se evalúa el contexto local, los recursos disponibles y se vinculan los Objetivos de Desarrollo Sostenible (ODS) de la ONU que el proyecto abordará.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Selección y trazabilidad de materiales:</a:t>
            </a:r>
            <a:r>
              <a:rPr lang="es-ES" sz="2000" dirty="0"/>
              <a:t> Se priorizan materiales naturales, biodegradables o reciclados. Se busca evitar compuestos tóxicos y se utiliza la técnica de reducción de la huella de carbono para evitar la compra de materias primas vírgene</a:t>
            </a:r>
            <a:r>
              <a:rPr lang="es-ES" sz="2000" b="1" dirty="0"/>
              <a:t>s.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Producción local y colaborativa:</a:t>
            </a:r>
            <a:r>
              <a:rPr lang="es-ES" sz="2000" dirty="0"/>
              <a:t> Fomenta el involucramiento de la comunidad. Se prioriza el uso de elementos propios de la región de Cusco para disminuir el impacto logístico.</a:t>
            </a:r>
            <a:endParaRPr lang="es-ES" sz="2000" b="1" dirty="0"/>
          </a:p>
          <a:p>
            <a:pPr>
              <a:lnSpc>
                <a:spcPct val="150000"/>
              </a:lnSpc>
            </a:pPr>
            <a:r>
              <a:rPr lang="es-ES" sz="2000" b="1" dirty="0"/>
              <a:t>Gestión de residuos y "Cero Basura":</a:t>
            </a:r>
            <a:r>
              <a:rPr lang="es-ES" sz="2000" dirty="0"/>
              <a:t> Al finalizar la exhibición, se garantiza que la obra no se convierta en residuo. Se diseña para ser desmontable, reutilizable, reciclable o </a:t>
            </a:r>
            <a:r>
              <a:rPr lang="es-ES" sz="2000" dirty="0" err="1"/>
              <a:t>compostable</a:t>
            </a:r>
            <a:r>
              <a:rPr lang="es-ES" sz="2000" dirty="0"/>
              <a:t>. 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Sensibilización y medición:</a:t>
            </a:r>
            <a:r>
              <a:rPr lang="es-ES" sz="2000" dirty="0"/>
              <a:t> El proyecto busca generar un mensaje de conciencia ambiental, evaluando su viabilidad económica, social y ecológica para un impacto a largo plazo.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24616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C60E5-E274-E572-82A3-C6D8BFDC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Identificación de las problemáticas locales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49168B-E94A-84BF-BAB5-6CBDB74A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https://www.youtube.com/watch?v=cCUa-jqKwF4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956BD8-BEEA-154A-6151-2FD278F6765C}"/>
              </a:ext>
            </a:extLst>
          </p:cNvPr>
          <p:cNvSpPr txBox="1"/>
          <p:nvPr/>
        </p:nvSpPr>
        <p:spPr>
          <a:xfrm>
            <a:off x="3046751" y="324058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https://www.youtube.com/watch?v=cCUa-jqKwF4</a:t>
            </a:r>
          </a:p>
        </p:txBody>
      </p:sp>
    </p:spTree>
    <p:extLst>
      <p:ext uri="{BB962C8B-B14F-4D97-AF65-F5344CB8AC3E}">
        <p14:creationId xmlns:p14="http://schemas.microsoft.com/office/powerpoint/2010/main" val="423190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E6918-336C-7D69-DC59-41F0CC0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Diseños de propuestas artísticas sostenibles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72A167-D4FD-1F64-6231-34FAE07D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0" u="none" strike="noStrike" dirty="0">
                <a:effectLst/>
                <a:latin typeface="Google Sans"/>
              </a:rPr>
              <a:t>Las propuestas artísticas sostenibles integran la ecología y la responsabilidad social en su creación</a:t>
            </a:r>
            <a:r>
              <a:rPr lang="es-ES" dirty="0"/>
              <a:t>. Sus enfoques incluyen:</a:t>
            </a:r>
          </a:p>
          <a:p>
            <a:r>
              <a:rPr lang="es-ES" dirty="0"/>
              <a:t> </a:t>
            </a:r>
            <a:r>
              <a:rPr lang="es-ES" b="1" dirty="0"/>
              <a:t>La </a:t>
            </a:r>
            <a:r>
              <a:rPr lang="es-ES" b="1" u="none" strike="noStrike" dirty="0">
                <a:effectLst/>
                <a:latin typeface="Google Sans"/>
              </a:rPr>
              <a:t>reutilización de materiales. </a:t>
            </a:r>
            <a:r>
              <a:rPr lang="es-ES" u="none" strike="noStrike" dirty="0">
                <a:effectLst/>
                <a:latin typeface="Google Sans"/>
              </a:rPr>
              <a:t>Transformación de residuos de todo tipo, incluidos los industriales.</a:t>
            </a:r>
          </a:p>
          <a:p>
            <a:r>
              <a:rPr lang="es-ES" b="1" dirty="0">
                <a:latin typeface="Google Sans"/>
              </a:rPr>
              <a:t>E</a:t>
            </a:r>
            <a:r>
              <a:rPr lang="es-ES" b="1" dirty="0"/>
              <a:t>l </a:t>
            </a:r>
            <a:r>
              <a:rPr lang="es-ES" b="1" u="none" strike="noStrike" dirty="0">
                <a:effectLst/>
                <a:latin typeface="Google Sans"/>
              </a:rPr>
              <a:t>arte ambiental.- </a:t>
            </a:r>
            <a:r>
              <a:rPr lang="es-ES" b="1" dirty="0"/>
              <a:t> https://www.youtube.com/watch?v=-bY2TE19S8A</a:t>
            </a:r>
          </a:p>
          <a:p>
            <a:r>
              <a:rPr lang="es-ES" b="1" dirty="0"/>
              <a:t>El </a:t>
            </a:r>
            <a:r>
              <a:rPr lang="es-ES" b="1" u="none" strike="noStrike" dirty="0">
                <a:effectLst/>
                <a:latin typeface="Google Sans"/>
              </a:rPr>
              <a:t>desarrollo comunitario</a:t>
            </a:r>
            <a:r>
              <a:rPr lang="es-ES" b="1" dirty="0"/>
              <a:t>. https://www.youtube.com/watch?v=KDgHtIs86g4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936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58D02F8-7777-6EB4-D43E-546431F94C9A}"/>
              </a:ext>
            </a:extLst>
          </p:cNvPr>
          <p:cNvSpPr txBox="1"/>
          <p:nvPr/>
        </p:nvSpPr>
        <p:spPr>
          <a:xfrm>
            <a:off x="483433" y="1270052"/>
            <a:ext cx="2694482" cy="275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 startAt="12"/>
              <a:tabLst>
                <a:tab pos="457200" algn="l"/>
              </a:tabLst>
            </a:pPr>
            <a:r>
              <a:rPr lang="es-PE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Desarrollo del proyecto artístico </a:t>
            </a:r>
            <a:endParaRPr lang="es-PE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 startAt="12"/>
              <a:tabLst>
                <a:tab pos="457200" algn="l"/>
              </a:tabLst>
            </a:pPr>
            <a:r>
              <a:rPr lang="es-PE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y retroalimentación de proyectos </a:t>
            </a:r>
            <a:endParaRPr lang="es-PE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 startAt="12"/>
              <a:tabLst>
                <a:tab pos="457200" algn="l"/>
              </a:tabLst>
            </a:pPr>
            <a:r>
              <a:rPr lang="es-PE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Sustentación final del proyecto </a:t>
            </a:r>
            <a:endParaRPr lang="es-PE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76ABF9-A63B-D98E-F02A-F0E421947BBB}"/>
              </a:ext>
            </a:extLst>
          </p:cNvPr>
          <p:cNvSpPr txBox="1"/>
          <p:nvPr/>
        </p:nvSpPr>
        <p:spPr>
          <a:xfrm>
            <a:off x="3177915" y="393012"/>
            <a:ext cx="8530652" cy="618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PE" dirty="0"/>
              <a:t> </a:t>
            </a:r>
            <a:r>
              <a:rPr lang="es-PE" b="1" dirty="0"/>
              <a:t>PROYECTO ARTÍSTICO SUSTENTABLE- Ojo responde a un problema</a:t>
            </a:r>
          </a:p>
          <a:p>
            <a:r>
              <a:rPr lang="es-PE" dirty="0"/>
              <a:t>                              │</a:t>
            </a:r>
          </a:p>
          <a:p>
            <a:r>
              <a:rPr lang="es-PE" dirty="0"/>
              <a:t> ┌──────────────┬──────────────┬──────────────┬──────────────┐</a:t>
            </a:r>
          </a:p>
          <a:p>
            <a:r>
              <a:rPr lang="es-PE" dirty="0"/>
              <a:t> │              │              │              │</a:t>
            </a:r>
          </a:p>
          <a:p>
            <a:r>
              <a:rPr lang="es-PE" dirty="0"/>
              <a:t>Propósito   Ambiental      Social        Cultural</a:t>
            </a:r>
          </a:p>
          <a:p>
            <a:r>
              <a:rPr lang="es-PE" dirty="0"/>
              <a:t> claro       responsable   participativo  e identidad</a:t>
            </a:r>
          </a:p>
          <a:p>
            <a:r>
              <a:rPr lang="es-PE" dirty="0"/>
              <a:t> │            │             │              │</a:t>
            </a:r>
          </a:p>
          <a:p>
            <a:r>
              <a:rPr lang="es-PE" dirty="0"/>
              <a:t>Objetivos   Uso de        Inclusión     Valoración del</a:t>
            </a:r>
          </a:p>
          <a:p>
            <a:r>
              <a:rPr lang="es-PE" dirty="0"/>
              <a:t>definidos   materiales    y trabajo     patrimonio y</a:t>
            </a:r>
          </a:p>
          <a:p>
            <a:r>
              <a:rPr lang="es-PE" dirty="0"/>
              <a:t>             sostenibles  colaborativo  tradiciones</a:t>
            </a:r>
          </a:p>
          <a:p>
            <a:r>
              <a:rPr lang="es-PE" dirty="0"/>
              <a:t>                              │</a:t>
            </a:r>
          </a:p>
          <a:p>
            <a:r>
              <a:rPr lang="es-PE" dirty="0"/>
              <a:t>                 ┌────────────┼────────────┐</a:t>
            </a:r>
          </a:p>
          <a:p>
            <a:r>
              <a:rPr lang="es-PE" dirty="0"/>
              <a:t>                 │            │            │</a:t>
            </a:r>
          </a:p>
          <a:p>
            <a:r>
              <a:rPr lang="es-PE" dirty="0"/>
              <a:t>            Económico   Innovación   Planificación</a:t>
            </a:r>
          </a:p>
          <a:p>
            <a:r>
              <a:rPr lang="es-PE" dirty="0"/>
              <a:t>                 │            │            │</a:t>
            </a:r>
          </a:p>
          <a:p>
            <a:r>
              <a:rPr lang="es-PE" dirty="0"/>
              <a:t>          Uso eficiente   Creatividad   Organización,</a:t>
            </a:r>
          </a:p>
          <a:p>
            <a:r>
              <a:rPr lang="es-PE" dirty="0"/>
              <a:t>          de recursos     sostenible    seguimiento y</a:t>
            </a:r>
          </a:p>
          <a:p>
            <a:r>
              <a:rPr lang="es-PE" dirty="0"/>
              <a:t>                                        evaluación</a:t>
            </a:r>
          </a:p>
          <a:p>
            <a:r>
              <a:rPr lang="es-PE" dirty="0"/>
              <a:t>                              │</a:t>
            </a:r>
          </a:p>
          <a:p>
            <a:r>
              <a:rPr lang="es-PE" dirty="0"/>
              <a:t>                              ▼</a:t>
            </a:r>
          </a:p>
          <a:p>
            <a:r>
              <a:rPr lang="es-PE" dirty="0"/>
              <a:t>                    Impacto positivo y sostenible</a:t>
            </a:r>
          </a:p>
          <a:p>
            <a:r>
              <a:rPr lang="es-PE" dirty="0"/>
              <a:t>             (ambiental, social, cultural y educativo)</a:t>
            </a:r>
          </a:p>
        </p:txBody>
      </p:sp>
    </p:spTree>
    <p:extLst>
      <p:ext uri="{BB962C8B-B14F-4D97-AF65-F5344CB8AC3E}">
        <p14:creationId xmlns:p14="http://schemas.microsoft.com/office/powerpoint/2010/main" val="399048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EBFE2-AA16-784D-8C30-7930526E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140211-642D-4B72-3261-85B271EE8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https://www.youtube.com/watch?v=bZdiKB5iwzs</a:t>
            </a:r>
          </a:p>
        </p:txBody>
      </p:sp>
    </p:spTree>
    <p:extLst>
      <p:ext uri="{BB962C8B-B14F-4D97-AF65-F5344CB8AC3E}">
        <p14:creationId xmlns:p14="http://schemas.microsoft.com/office/powerpoint/2010/main" val="3170525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Paleta Z">
      <a:dk1>
        <a:sysClr val="windowText" lastClr="000000"/>
      </a:dk1>
      <a:lt1>
        <a:sysClr val="window" lastClr="FFFFFF"/>
      </a:lt1>
      <a:dk2>
        <a:srgbClr val="C00000"/>
      </a:dk2>
      <a:lt2>
        <a:srgbClr val="FFFFFF"/>
      </a:lt2>
      <a:accent1>
        <a:srgbClr val="00629B"/>
      </a:accent1>
      <a:accent2>
        <a:srgbClr val="FE5000"/>
      </a:accent2>
      <a:accent3>
        <a:srgbClr val="7F7F7F"/>
      </a:accent3>
      <a:accent4>
        <a:srgbClr val="DDCE11"/>
      </a:accent4>
      <a:accent5>
        <a:srgbClr val="7030A0"/>
      </a:accent5>
      <a:accent6>
        <a:srgbClr val="008755"/>
      </a:accent6>
      <a:hlink>
        <a:srgbClr val="00629B"/>
      </a:hlink>
      <a:folHlink>
        <a:srgbClr val="442359"/>
      </a:folHlink>
    </a:clrScheme>
    <a:fontScheme name="Fonts Z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75282A5-DAAC-4101-886A-C33AA1C9C2CA}" vid="{E6710924-A854-46BB-91F1-AB586CCF365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433</Words>
  <Application>Microsoft Office PowerPoint</Application>
  <PresentationFormat>Panorámica</PresentationFormat>
  <Paragraphs>45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Google Sans</vt:lpstr>
      <vt:lpstr>Times New Roman</vt:lpstr>
      <vt:lpstr>Tema de Office</vt:lpstr>
      <vt:lpstr>Office Theme</vt:lpstr>
      <vt:lpstr>Desarrollo sustentable (Tercera Unidad)</vt:lpstr>
      <vt:lpstr>Metodología para elaborar proyectos artísticos sustentables-Todas tienen que ver con la agenda 2030, propuesta por la ONU </vt:lpstr>
      <vt:lpstr>Identificación de las problemáticas locales</vt:lpstr>
      <vt:lpstr>Diseños de propuestas artísticas sostenibles</vt:lpstr>
      <vt:lpstr>Presentación de PowerPoint</vt:lpstr>
      <vt:lpstr>Ejemplos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sustentable (Tercera Unidad)</dc:title>
  <dc:creator>maruja huayhuaca hermoza</dc:creator>
  <cp:lastModifiedBy>Jimy Peralta Oviedo</cp:lastModifiedBy>
  <cp:revision>5</cp:revision>
  <dcterms:created xsi:type="dcterms:W3CDTF">2026-07-01T16:18:04Z</dcterms:created>
  <dcterms:modified xsi:type="dcterms:W3CDTF">2026-07-09T22:08:26Z</dcterms:modified>
</cp:coreProperties>
</file>